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A200-84EE-A705-030B-DD540BD7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211A-2F2B-2C5A-2719-C9C1B0552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BCF73-FD5E-CBB9-5051-7711A0AA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31DC0-498E-9253-7547-98F5C458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92AF-FD80-9CD6-6F85-05B6C4DC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1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0F58-EC51-6CFB-3422-D152F6A0A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965C-C900-EF6D-BFD6-C22D5D0E5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4D5A-5842-A410-7267-00B90AC9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22DF-BFEA-C75B-7220-E1446255B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86D26-9235-912E-C5C0-4E36C892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2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96B9-95E3-05D8-13EF-1CFF1337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B648D-D0E9-E484-4A5E-3D0B0490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1F467-8CA8-37EC-B165-9BECAC1C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5D37-CBBB-5A0A-3952-F89951C1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0241-44E4-59A3-7B5F-7C9E3D1A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0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0AA3-A744-0E73-EC3D-C159F32A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F638-352A-A6EB-D2CA-E023BB87A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0C388-547E-3A0B-C167-5FBCA3A95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BE1C0-5C85-9506-DE39-57418BC01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DAB4-9F54-0A03-59CB-C51BB579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D4CB8-38EA-CDAD-2578-DF4D0D7F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43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ADDB-E209-CCD5-9BA2-ECC087FC2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D41E3-81DF-3529-EF3C-0D209FEE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93EA-465F-5614-C043-7C82E2D7F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37F57-4919-348B-287C-1BAC4BABA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ACFDD7-7FD1-8DDD-AFDD-FAD645C22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A25B84-8DE2-B7B3-D834-0CEF683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270EA-5206-9F2C-47BC-D65D89BD1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58BEC-17FE-3374-EEB4-79B4CEC6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6299-B208-2B50-0794-B3D72F5E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133B-9856-7ECF-BAE9-72328A9B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662D6-080A-52B0-0B51-DF4A5855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835C4-FF7B-2648-36ED-8AABD18A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7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1DAEC-0E78-8B8F-67BE-0D11A9750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0A4B8-317C-9D44-D80A-15308EE6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12D2C-145B-C75B-5BA1-0451C0AC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5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A495-8B9A-2527-F1BD-821CF16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3C265-3A68-E706-1CAB-A9113B60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005F5-8255-ACBE-520B-411D0A0E7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ADD90-0DDE-07D2-3CE8-29158985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B7E66-79B3-08B6-B220-B0FA3BB7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D9E9A-1A9E-4947-BC52-2E9CD242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B55B-B732-26C4-879D-220E60C2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BF4BAF-6973-58D8-7A29-3076DD31B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73B69-95EC-40FC-F788-87D1A59F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B16C7-C937-56F0-A68F-837DB4E7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C3A9-84A2-A453-C0CD-B4055C0B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6BB61-10D4-A6DB-4539-1427399A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6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7C84-4D2B-58AA-BBD6-FDDDDFD9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4C07-0C08-E41F-8AEB-8087057D2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5D7C9-6D7F-A921-28B6-C7D3B598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20A1-EC25-74C9-0EF8-A21C2E09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70FD8-0B82-D964-5267-78C2332BF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3FD62-0362-10B2-5A84-B20CC0FD0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F8A09-8146-9861-C004-B4E65FE4F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5541-F663-9895-7D95-1AA78FB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57133-13AF-9D7E-F9E4-B3E7BA01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1696-F02D-A05D-6EC6-281176BA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54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7F3C4-1A2A-9B2E-959C-8543D940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F811-E5EB-7E32-AAFC-3B205DBEB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ECCAD-C3E5-8C40-3BFE-FA0236363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4B51E-E25E-443C-9E90-EDE2735B010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ED5B-2B8A-2906-5C9F-3FFECBE54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5570-3DBF-72A4-48B8-78D7B7509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EE215-6138-4206-A981-D8C6456A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6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771C4-B0B4-3657-52E1-43605F26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Report :</a:t>
            </a:r>
          </a:p>
        </p:txBody>
      </p:sp>
      <p:pic>
        <p:nvPicPr>
          <p:cNvPr id="5" name="Content Placeholder 4" descr="Close-up of package with blank tag">
            <a:extLst>
              <a:ext uri="{FF2B5EF4-FFF2-40B4-BE49-F238E27FC236}">
                <a16:creationId xmlns:a16="http://schemas.microsoft.com/office/drawing/2014/main" id="{170C3149-55D7-2872-738E-152F3D835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245" y="1825625"/>
            <a:ext cx="6377510" cy="4351338"/>
          </a:xfrm>
        </p:spPr>
      </p:pic>
    </p:spTree>
    <p:extLst>
      <p:ext uri="{BB962C8B-B14F-4D97-AF65-F5344CB8AC3E}">
        <p14:creationId xmlns:p14="http://schemas.microsoft.com/office/powerpoint/2010/main" val="81575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B3A3-B65C-4869-60CE-3BE2102D2F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4302D-FE93-04E1-827D-EB2447D4E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7153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defRPr sz="2000"/>
            </a:pPr>
            <a:r>
              <a:rPr sz="2000"/>
              <a:t>Avient's Q1 strategy prioritizes customer-centric growth, cost discipline, and targeted investments in high-margin sectors.</a:t>
            </a:r>
          </a:p>
          <a:p>
            <a:pPr>
              <a:defRPr sz="2000"/>
            </a:pPr>
            <a:r>
              <a:rPr sz="2000"/>
              <a:t>Focus areas include defense and healthcare markets, which demonstrate strong growth despite broader market volatility.</a:t>
            </a:r>
          </a:p>
          <a:p>
            <a:pPr>
              <a:defRPr sz="2000"/>
            </a:pPr>
            <a:r>
              <a:rPr sz="2000"/>
              <a:t>The company is balancing strategic investments with financial discipline to navigate challenges such as inflation, weak consumer demand, and foreign exchange headwinds.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buNone/>
              <a:defRPr b="1" sz="2200"/>
            </a:pPr>
            <a:r>
              <a:rPr b="1" sz="2200"/>
              <a:t>Revenue Growth</a:t>
            </a:r>
          </a:p>
          <a:p>
            <a:pPr lvl="1">
              <a:defRPr sz="2000"/>
            </a:pPr>
            <a:r>
              <a:rPr sz="2000"/>
              <a:t>Q1 sales reached $826.6M, with 2% organic year-over-year growth despite FX pressures.</a:t>
            </a:r>
          </a:p>
          <a:p>
            <a:pPr>
              <a:buNone/>
              <a:defRPr b="1" sz="2200"/>
            </a:pPr>
            <a:r>
              <a:rPr b="1" sz="2200"/>
              <a:t>Profitability</a:t>
            </a:r>
          </a:p>
          <a:p>
            <a:pPr lvl="1">
              <a:defRPr sz="2000"/>
            </a:pPr>
            <a:r>
              <a:rPr sz="2000"/>
              <a:t>Adjusted EBITDA margins improved by 20 basis points, reaching 17.5%.</a:t>
            </a:r>
          </a:p>
          <a:p>
            <a:pPr>
              <a:buNone/>
              <a:defRPr b="1" sz="2200"/>
            </a:pPr>
            <a:r>
              <a:rPr b="1" sz="2200"/>
              <a:t>Customer-Centric Approach</a:t>
            </a:r>
          </a:p>
          <a:p>
            <a:pPr lvl="1">
              <a:defRPr sz="2000"/>
            </a:pPr>
            <a:r>
              <a:rPr sz="2000"/>
              <a:t>Emphasis on deepening customer relationships and securing new business opportunities.</a:t>
            </a:r>
          </a:p>
          <a:p>
            <a:pPr>
              <a:buNone/>
              <a:defRPr b="1" sz="2200"/>
            </a:pPr>
            <a:r>
              <a:rPr b="1" sz="2200"/>
              <a:t>Cost Management</a:t>
            </a:r>
          </a:p>
          <a:p>
            <a:pPr lvl="1">
              <a:defRPr sz="2000"/>
            </a:pPr>
            <a:r>
              <a:rPr sz="2000"/>
              <a:t>Proactive measures to mitigate raw material inflation and tariff impacts.</a:t>
            </a:r>
          </a:p>
          <a:p>
            <a:pPr>
              <a:buNone/>
              <a:defRPr b="1" sz="2200"/>
            </a:pPr>
            <a:r>
              <a:rPr b="1" sz="2200"/>
              <a:t>Market Resilience</a:t>
            </a:r>
          </a:p>
          <a:p>
            <a:pPr lvl="1">
              <a:defRPr sz="2000"/>
            </a:pPr>
            <a:r>
              <a:rPr sz="2000"/>
              <a:t>Strong performance in defense and healthcare segments offsets weaker consumer demand.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buNone/>
              <a:defRPr b="1" sz="2200"/>
            </a:pPr>
            <a:r>
              <a:rPr b="1" sz="2200"/>
              <a:t>Sector-Specific Growth</a:t>
            </a:r>
          </a:p>
          <a:p>
            <a:pPr lvl="1">
              <a:defRPr sz="2000"/>
            </a:pPr>
            <a:r>
              <a:rPr sz="2000"/>
              <a:t>Double-digit growth in defense and healthcare markets, driven by high-margin opportunities.</a:t>
            </a:r>
          </a:p>
          <a:p>
            <a:pPr>
              <a:buNone/>
              <a:defRPr b="1" sz="2200"/>
            </a:pPr>
            <a:r>
              <a:rPr b="1" sz="2200"/>
              <a:t>Operational Efficiency</a:t>
            </a:r>
          </a:p>
          <a:p>
            <a:pPr lvl="1">
              <a:defRPr sz="2000"/>
            </a:pPr>
            <a:r>
              <a:rPr sz="2000"/>
              <a:t>Continued focus on productivity initiatives to enhance margins and manage costs.</a:t>
            </a:r>
          </a:p>
          <a:p>
            <a:pPr>
              <a:buNone/>
              <a:defRPr b="1" sz="2200"/>
            </a:pPr>
            <a:r>
              <a:rPr b="1" sz="2200"/>
              <a:t>Macroeconomic Challenges</a:t>
            </a:r>
          </a:p>
          <a:p>
            <a:pPr lvl="1">
              <a:defRPr sz="2000"/>
            </a:pPr>
            <a:r>
              <a:rPr sz="2000"/>
              <a:t>Persistent FX headwinds and inflationary pressures impacting overall performance.</a:t>
            </a:r>
          </a:p>
          <a:p>
            <a:pPr>
              <a:buNone/>
              <a:defRPr b="1" sz="2200"/>
            </a:pPr>
            <a:r>
              <a:rPr b="1" sz="2200"/>
              <a:t>Strategic Investments</a:t>
            </a:r>
          </a:p>
          <a:p>
            <a:pPr lvl="1">
              <a:defRPr sz="2000"/>
            </a:pPr>
            <a:r>
              <a:rPr sz="2000"/>
              <a:t>Ongoing investment in growth areas despite market uncertainties.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Risks / Watchouts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buNone/>
              <a:defRPr b="1" sz="2200"/>
            </a:pPr>
            <a:r>
              <a:rPr b="1" sz="2200"/>
              <a:t>Macroeconomic Volatility</a:t>
            </a:r>
          </a:p>
          <a:p>
            <a:pPr lvl="1">
              <a:defRPr sz="2000"/>
            </a:pPr>
            <a:r>
              <a:rPr sz="2000"/>
              <a:t>FX fluctuations and inflationary pressures could impact profitability.</a:t>
            </a:r>
          </a:p>
          <a:p>
            <a:pPr>
              <a:buNone/>
              <a:defRPr b="1" sz="2200"/>
            </a:pPr>
            <a:r>
              <a:rPr b="1" sz="2200"/>
              <a:t>Consumer Demand Weakness</a:t>
            </a:r>
          </a:p>
          <a:p>
            <a:pPr lvl="1">
              <a:defRPr sz="2000"/>
            </a:pPr>
            <a:r>
              <a:rPr sz="2000"/>
              <a:t>Broader consumer market softness poses a risk to revenue growth.</a:t>
            </a:r>
          </a:p>
          <a:p>
            <a:pPr>
              <a:buNone/>
              <a:defRPr b="1" sz="2200"/>
            </a:pPr>
            <a:r>
              <a:rPr b="1" sz="2200"/>
              <a:t>Execution Risks</a:t>
            </a:r>
          </a:p>
          <a:p>
            <a:pPr lvl="1">
              <a:defRPr sz="2000"/>
            </a:pPr>
            <a:r>
              <a:rPr sz="2000"/>
              <a:t>Balancing cost management with strategic investments requires precise execution to avoid operational disruptions.</a:t>
            </a:r>
          </a:p>
          <a:p>
            <a:pPr>
              <a:buNone/>
              <a:defRPr b="1" sz="2200"/>
            </a:pPr>
            <a:r>
              <a:rPr b="1" sz="2200"/>
              <a:t>Geopolitical Risks</a:t>
            </a:r>
          </a:p>
          <a:p>
            <a:pPr lvl="1">
              <a:defRPr sz="2000"/>
            </a:pPr>
            <a:r>
              <a:rPr sz="2000"/>
              <a:t>Exposure to defense markets may present risks tied to geopolitical instability.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Recommended 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5029200" cy="4754880"/>
          </a:xfrm>
        </p:spPr>
        <p:txBody>
          <a:bodyPr wrap="square"/>
          <a:lstStyle/>
          <a:p>
            <a:pPr>
              <a:buNone/>
              <a:defRPr b="1" sz="2200"/>
            </a:pPr>
            <a:r>
              <a:rPr b="1" sz="2200"/>
              <a:t>Strengthen Growth in High-Margin Sectors</a:t>
            </a:r>
          </a:p>
          <a:p>
            <a:pPr lvl="1">
              <a:defRPr sz="2000"/>
            </a:pPr>
            <a:r>
              <a:rPr sz="2000"/>
              <a:t>Continue prioritizing defense and healthcare markets to capitalize on double-digit growth.</a:t>
            </a:r>
          </a:p>
          <a:p>
            <a:pPr>
              <a:buNone/>
              <a:defRPr b="1" sz="2200"/>
            </a:pPr>
            <a:r>
              <a:rPr b="1" sz="2200"/>
              <a:t>Enhance FX Risk Mitigation</a:t>
            </a:r>
          </a:p>
          <a:p>
            <a:pPr lvl="1">
              <a:defRPr sz="2000"/>
            </a:pPr>
            <a:r>
              <a:rPr sz="2000"/>
              <a:t>Explore hedging strategies to reduce exposure to currency fluctuations.</a:t>
            </a:r>
          </a:p>
          <a:p>
            <a:pPr>
              <a:buNone/>
              <a:defRPr b="1" sz="2200"/>
            </a:pPr>
            <a:r>
              <a:rPr b="1" sz="2200"/>
              <a:t>Optimize Cost Management</a:t>
            </a:r>
          </a:p>
          <a:p>
            <a:pPr lvl="1">
              <a:defRPr sz="2000"/>
            </a:pPr>
            <a:r>
              <a:rPr sz="2000"/>
              <a:t>Further streamline operations to sustain margin improvements amidst inflationary pressures.</a:t>
            </a:r>
          </a:p>
          <a:p>
            <a:pPr>
              <a:buNone/>
              <a:defRPr b="1" sz="2200"/>
            </a:pPr>
            <a:r>
              <a:rPr b="1" sz="2200"/>
              <a:t>Monitor Consumer Market Trends</a:t>
            </a:r>
          </a:p>
          <a:p>
            <a:pPr lvl="1">
              <a:defRPr sz="2000"/>
            </a:pPr>
            <a:r>
              <a:rPr sz="2000"/>
              <a:t>Develop contingency plans to address prolonged consumer demand weakness.</a:t>
            </a:r>
          </a:p>
          <a:p>
            <a:pPr>
              <a:buNone/>
              <a:defRPr b="1" sz="2200"/>
            </a:pPr>
            <a:r>
              <a:rPr b="1" sz="2200"/>
              <a:t>Leverage Customer-Centric Strategy</a:t>
            </a:r>
          </a:p>
          <a:p>
            <a:pPr lvl="1">
              <a:defRPr sz="2000"/>
            </a:pPr>
            <a:r>
              <a:rPr sz="2000"/>
              <a:t>Expand customer engagement initiatives to secure long-term partnerships and drive organic growth.</a:t>
            </a:r>
          </a:p>
          <a:p>
            <a:pPr>
              <a:defRPr sz="2000"/>
            </a:pPr>
            <a:r>
              <a:rPr sz="2000"/>
              <a:t>---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Constantia</vt:lpstr>
      <vt:lpstr>Franklin Gothic Book</vt:lpstr>
      <vt:lpstr>Office Theme</vt:lpstr>
      <vt:lpstr>Detailed Report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Avinash Chavan</dc:creator>
  <cp:lastModifiedBy>Atharva Avinash Chavan</cp:lastModifiedBy>
  <cp:revision>2</cp:revision>
  <dcterms:created xsi:type="dcterms:W3CDTF">2026-01-09T05:39:43Z</dcterms:created>
  <dcterms:modified xsi:type="dcterms:W3CDTF">2026-01-09T05:46:40Z</dcterms:modified>
</cp:coreProperties>
</file>